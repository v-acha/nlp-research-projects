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Slab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bb4362d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bb4362d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b4362d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4bb4362d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bb4362d4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bb4362d4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bed32bc7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bed32bc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cba672270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cba672270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bb4362d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bb4362d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bb4362d4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bb4362d4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bed32bc7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bed32bc7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bed32bc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bed32bc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bb4362d4e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bb4362d4e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bb4362d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bb4362d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bb4362d4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bb4362d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228075" y="369650"/>
            <a:ext cx="8604300" cy="24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CLAUSE EXTRACTION USING TEXT GENERATION MODELS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Vanellsa Acha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Introduction/Motivation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Legal contract analysis is complex and high-stakes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Traditional NLP models struggle with domain-specific legal language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Reframe clause extraction as a text generation task with generative models (T5, BART, FLAN-T5).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Using CUAD dataset: 13,000+ clauses across 41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38675" y="122575"/>
            <a:ext cx="85206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Extractive QA to Generative Models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3256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Traditional models rely on span prediction (e.g., BERT, RoBERTa)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Generative models reframe clause extraction as text generation</a:t>
            </a:r>
            <a:br>
              <a:rPr lang="en" sz="1900"/>
            </a:br>
            <a:r>
              <a:rPr lang="en" sz="1900"/>
              <a:t>Allows flexibility for long, multi-sentence, or implicit clauses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CUAD has start tokens only. </a:t>
            </a:r>
            <a:r>
              <a:rPr lang="en" sz="1900"/>
              <a:t>Discontiguous answer</a:t>
            </a:r>
            <a:r>
              <a:rPr lang="en" sz="1900"/>
              <a:t> tokens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Evaluated: T5, FLAN-T5, BART with fusion-based architecture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4300" y="83250"/>
            <a:ext cx="4706100" cy="9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CUAD Dataset: Challenges &amp; Strategy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47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/>
              <a:t>Long contract pages and word length </a:t>
            </a:r>
            <a:r>
              <a:rPr lang="en" sz="1400">
                <a:solidFill>
                  <a:schemeClr val="dk1"/>
                </a:solidFill>
              </a:rPr>
              <a:t>with sparse clause distribution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Contract length 9-36 pages per clause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Preprocessing: Chunking with sliding windows (512 tokens, 256 overlap). </a:t>
            </a:r>
            <a:r>
              <a:rPr b="1" lang="en" sz="1400">
                <a:solidFill>
                  <a:schemeClr val="dk1"/>
                </a:solidFill>
              </a:rPr>
              <a:t>Question context chunking per clause.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imbalance in full CUAD dataset and chunked dataset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Under-sampling “No answer” for effective training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400" y="0"/>
            <a:ext cx="3703675" cy="247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1400" y="2883175"/>
            <a:ext cx="3435999" cy="210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85875" y="51800"/>
            <a:ext cx="85206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Restructured Dataset Before Chunking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275" y="704325"/>
            <a:ext cx="2782467" cy="41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85875" y="51800"/>
            <a:ext cx="85206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Dataset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86" y="715450"/>
            <a:ext cx="7904814" cy="40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Trained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87900" y="1364800"/>
            <a:ext cx="347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1 - </a:t>
            </a:r>
            <a:r>
              <a:rPr b="1" lang="en"/>
              <a:t>T5 small as Baseline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Fine-tuned on CUAD with question-context-answer triplets</a:t>
            </a:r>
            <a:br>
              <a:rPr lang="en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Trained for 5 epochs using cross-entropy loss</a:t>
            </a:r>
            <a:br>
              <a:rPr lang="en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Tended to over-predict “No answer,” especially on subtle clause types</a:t>
            </a:r>
            <a:br>
              <a:rPr lang="en"/>
            </a:b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 additional supervision or filtering applied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572000" y="1364800"/>
            <a:ext cx="356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Model 2 - </a:t>
            </a:r>
            <a:r>
              <a:rPr b="1" lang="en"/>
              <a:t>Flan T-5 base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Instruction-tuned model trained with the same triplets as T5</a:t>
            </a:r>
            <a:br>
              <a:rPr lang="en"/>
            </a:b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Better aligned with prompt-style inputs; reduced hallucinations</a:t>
            </a:r>
            <a:br>
              <a:rPr lang="en"/>
            </a:b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Showed improved exact match and clause boundary sensitivity</a:t>
            </a:r>
            <a:br>
              <a:rPr lang="en"/>
            </a:b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Often abstained when uncertain, reducing false positives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233050" y="256275"/>
            <a:ext cx="85206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Model 3 - </a:t>
            </a:r>
            <a:r>
              <a:rPr b="1" lang="en" sz="2100"/>
              <a:t>BART Fusion (Generative + Filtering Hybrid) </a:t>
            </a:r>
            <a:r>
              <a:rPr b="1" lang="en" sz="1100"/>
              <a:t>Models Trained cont.</a:t>
            </a:r>
            <a:endParaRPr sz="2700"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280250" y="1517650"/>
            <a:ext cx="4131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Fusion architecture</a:t>
            </a:r>
            <a:r>
              <a:rPr lang="en" sz="1400">
                <a:solidFill>
                  <a:schemeClr val="dk1"/>
                </a:solidFill>
              </a:rPr>
              <a:t>: Augmented with a </a:t>
            </a:r>
            <a:r>
              <a:rPr b="1" lang="en" sz="1400">
                <a:solidFill>
                  <a:schemeClr val="dk1"/>
                </a:solidFill>
              </a:rPr>
              <a:t>clause-type classifier</a:t>
            </a:r>
            <a:r>
              <a:rPr lang="en" sz="1400">
                <a:solidFill>
                  <a:schemeClr val="dk1"/>
                </a:solidFill>
              </a:rPr>
              <a:t> that operates in parallel with the generation process.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Chunk-level evidence filtering</a:t>
            </a:r>
            <a:r>
              <a:rPr lang="en" sz="1400">
                <a:solidFill>
                  <a:schemeClr val="dk1"/>
                </a:solidFill>
              </a:rPr>
              <a:t>: The classifier outputs confidence scores for predicted clause categories. These scores are then used to </a:t>
            </a:r>
            <a:r>
              <a:rPr b="1" lang="en" sz="1400">
                <a:solidFill>
                  <a:schemeClr val="dk1"/>
                </a:solidFill>
              </a:rPr>
              <a:t>filter and validate</a:t>
            </a:r>
            <a:r>
              <a:rPr lang="en" sz="1400">
                <a:solidFill>
                  <a:schemeClr val="dk1"/>
                </a:solidFill>
              </a:rPr>
              <a:t> generated clauses.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Post-processing logic</a:t>
            </a:r>
            <a:r>
              <a:rPr lang="en" sz="1400">
                <a:solidFill>
                  <a:schemeClr val="dk1"/>
                </a:solidFill>
              </a:rPr>
              <a:t>: During inference, generated chunks are accepted only if they align with classifier-supported clause types or surpass a predefined confidence threshold.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Goal</a:t>
            </a:r>
            <a:r>
              <a:rPr lang="en" sz="1400">
                <a:solidFill>
                  <a:schemeClr val="dk1"/>
                </a:solidFill>
              </a:rPr>
              <a:t>: Reduce false positives from the generative model and improve clause-level recall without compromising on extraction precision.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4700" y="945625"/>
            <a:ext cx="2646149" cy="396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Evaluation: What determines success?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Evaluation at two levels: (F1, EM, ROUGE, Jaccard similarity, chunk and doc accuracy %)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Chunk level evaluation</a:t>
            </a:r>
            <a:r>
              <a:rPr lang="en"/>
              <a:t> </a:t>
            </a:r>
            <a:r>
              <a:rPr lang="en"/>
              <a:t>-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Measures how well the model extracts the correct clause within each individual text segment (chunk).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Reflects clause localization and generation quality at the micro level.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Document level evaluation</a:t>
            </a:r>
            <a:r>
              <a:rPr lang="en"/>
              <a:t> - 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Measures whether the model can correctly assemble and identify the full clause from all relevant chunks in the document.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Reflects the model’s holistic understanding and ability to recover fragmented or scattered clauses.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at the Chunk Level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625" y="1871550"/>
            <a:ext cx="65151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225200" y="67525"/>
            <a:ext cx="8520600" cy="6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71600"/>
            <a:ext cx="22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Document level evaluation (3 Approaches)</a:t>
            </a:r>
            <a:endParaRPr b="1"/>
          </a:p>
          <a:p>
            <a:pPr indent="-326513" lvl="0" marL="457200" rtl="0" algn="l">
              <a:spcBef>
                <a:spcPts val="1200"/>
              </a:spcBef>
              <a:spcAft>
                <a:spcPts val="0"/>
              </a:spcAft>
              <a:buSzPts val="1542"/>
              <a:buChar char="-"/>
            </a:pPr>
            <a:r>
              <a:rPr lang="en" sz="1541"/>
              <a:t>Combine all answers</a:t>
            </a:r>
            <a:endParaRPr sz="1541"/>
          </a:p>
          <a:p>
            <a:pPr indent="-326513" lvl="0" marL="457200" rtl="0" algn="l">
              <a:spcBef>
                <a:spcPts val="0"/>
              </a:spcBef>
              <a:spcAft>
                <a:spcPts val="0"/>
              </a:spcAft>
              <a:buSzPts val="1542"/>
              <a:buChar char="-"/>
            </a:pPr>
            <a:r>
              <a:rPr lang="en" sz="1541"/>
              <a:t>Select best </a:t>
            </a:r>
            <a:r>
              <a:rPr lang="en" sz="1541"/>
              <a:t>answer</a:t>
            </a:r>
            <a:r>
              <a:rPr lang="en" sz="1541"/>
              <a:t> by Rouge L</a:t>
            </a:r>
            <a:endParaRPr sz="1541"/>
          </a:p>
          <a:p>
            <a:pPr indent="-326513" lvl="0" marL="457200" rtl="0" algn="l">
              <a:spcBef>
                <a:spcPts val="0"/>
              </a:spcBef>
              <a:spcAft>
                <a:spcPts val="0"/>
              </a:spcAft>
              <a:buSzPts val="1542"/>
              <a:buChar char="-"/>
            </a:pPr>
            <a:r>
              <a:rPr lang="en" sz="1541"/>
              <a:t>Select best answer by EM if not Rouge L</a:t>
            </a:r>
            <a:endParaRPr sz="1541"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075" y="777475"/>
            <a:ext cx="6253050" cy="386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&amp; Key Findings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71600"/>
            <a:ext cx="8661900" cy="38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T5</a:t>
            </a:r>
            <a:r>
              <a:rPr lang="en" sz="1600">
                <a:solidFill>
                  <a:schemeClr val="dk1"/>
                </a:solidFill>
              </a:rPr>
              <a:t>: Struggled with subtle references, over-predicted "No answer"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FLAN-T5</a:t>
            </a:r>
            <a:r>
              <a:rPr lang="en" sz="1600">
                <a:solidFill>
                  <a:schemeClr val="dk1"/>
                </a:solidFill>
              </a:rPr>
              <a:t>: Better clause fidelity, fewer hallucinations.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encoder lacks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cross-chunk relational reasoning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limiting its capacity to track semantic threads across overlapping windows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BART + Fusion</a:t>
            </a:r>
            <a:r>
              <a:rPr lang="en" sz="1600">
                <a:solidFill>
                  <a:schemeClr val="dk1"/>
                </a:solidFill>
              </a:rPr>
              <a:t>: Best for long, fragmented clauses, but hallucination risk. Classification layer red</a:t>
            </a:r>
            <a:r>
              <a:rPr lang="en" sz="1600"/>
              <a:t>uced noise. 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Consistent struggle with similar legal language across clause types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functions (GeLU/Swish)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deeper layers struggle to encode subtle semantic distinctions like legal nuances.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Dataset was the biggest improvement for baseline and iterative model learning</a:t>
            </a:r>
            <a:endParaRPr sz="19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Generative models show promise for nuanced clause extraction</a:t>
            </a:r>
            <a:endParaRPr sz="19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Instruction tuning (FLAN-T5) improves reliability and fluency</a:t>
            </a:r>
            <a:endParaRPr sz="19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Future directions: Explore Flan-T5 and cross-clause reasoning, better prompts</a:t>
            </a:r>
            <a:endParaRPr sz="19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BART Fusion and FLAN-T5 can be used to </a:t>
            </a:r>
            <a:r>
              <a:rPr lang="en" sz="1900"/>
              <a:t>complement</a:t>
            </a:r>
            <a:r>
              <a:rPr lang="en" sz="1900"/>
              <a:t> each other. </a:t>
            </a:r>
            <a:endParaRPr sz="19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Paving the way for semi-automated legal contract review</a:t>
            </a:r>
            <a:endParaRPr sz="19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157"/>
              <a:buChar char="●"/>
            </a:pPr>
            <a:r>
              <a:rPr lang="en" sz="1900"/>
              <a:t>Contract structure more important than balance.</a:t>
            </a:r>
            <a:br>
              <a:rPr lang="en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